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411480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97316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VEDHA LOGISTICS</a:t>
            </a:r>
          </a:p>
          <a:p>
            <a:pPr>
              <a:spcBef>
                <a:spcPts val="800"/>
              </a:spcBef>
              <a:defRPr sz="2000">
                <a:solidFill>
                  <a:srgbClr val="0284C7"/>
                </a:solidFill>
              </a:defRPr>
            </a:pPr>
            <a:r>
              <a:t>AI-Driven Maritime Freight Forecasting, Vessel Selection &amp; Multi-Voyage Charter Optimizer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657600"/>
            <a:ext cx="10725912" cy="2468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79476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</a:defRPr>
            </a:pPr>
            <a:r>
              <a:t>PROBLEM STATEMENT OBJECTIVE: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Optimal Market Entry Timing: Identify ideal windows to secure short/medium-term charter contracts minimizing freight costs.</a:t>
            </a:r>
            <a:br/>
            <a:r>
              <a:t>• Vessel Type Optimization: Nominate suitable vessel class (Handysize to Capesize) accounting for East Coast India draft/LOA restrictions.</a:t>
            </a:r>
            <a:br/>
            <a:r>
              <a:t>• Idle Scenario Management &amp; Virtual Arrival: Propose speed optimization to eliminate port queue waiting and reduce bunker burn.</a:t>
            </a:r>
            <a:br/>
            <a:r>
              <a:t>• Risk Mitigation: Early warnings for market volatility, monsoon disruptions, and macro shocks.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</a:defRPr>
            </a:pPr>
            <a:r>
              <a:t>SMART INDIA HACKATHON 2026 | SMART LOGISTICS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Problem Background: The Challenges in India's Bulk Maritime Supply Chain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2240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920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97316"/>
                </a:solidFill>
              </a:defRPr>
            </a:pPr>
            <a:r>
              <a:t>1. Extreme Freight Volatility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Spot charter rates across Baltic Capesize (BCI) and Panamax (BPI) indices swing 20%–45% within weeks, causing severe procurement budget overruns.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63040"/>
            <a:ext cx="5257800" cy="2240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45920"/>
            <a:ext cx="48920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2. Physical Draft Bottlenecks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India's East Coast ports range from 8.5m tidal river draft at Haldia to 18.5m deepwater at Gangavaram. Poor vessel nomination causes groundings or lighterage penalties.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86200"/>
            <a:ext cx="5257800" cy="2240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48920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3. High Port Demurrage &amp; Waste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Vessels 'rush and wait' at anchorage, burning bunker fuel while incurring $18,000–$28,000/day in demurrage penalties and high Scope 1 GHG emissions.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886200"/>
            <a:ext cx="5257800" cy="2240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4069080"/>
            <a:ext cx="48920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4. Ballast Deadheading Loss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Bulk carriers return empty on reverse legs without backhaul cargo triangulation, wasting 35%–45% of total voyage economics.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</a:defRPr>
            </a:pPr>
            <a:r>
              <a:t>SMART INDIA HACKATHON 2026 | SMART LOGISTICS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Proposed Solution: An End-to-End Maritime Decision Intelligence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2240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32004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97316"/>
                </a:solidFill>
              </a:defRPr>
            </a:pPr>
            <a:r>
              <a:t>📈 Optimal Market Timing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180-Day Probabilistic Baltic Forecaster with SARIMAX/ML ensemble and plain-English buy/hold directives.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63040"/>
            <a:ext cx="3474720" cy="2240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600200"/>
            <a:ext cx="32004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⚓ Marine Physics Draft Solver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Evaluates Under-Keel Clearance (UKC), LOA, beam, and automated Sandheads STS lighterage tariffs.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463040"/>
            <a:ext cx="3474720" cy="2240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1600200"/>
            <a:ext cx="32004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📄 MILP Contract Strategy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Mixed-Integer Linear Programming allocating volume across Spot, 6M COA, and Period Time Charter.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86200"/>
            <a:ext cx="3474720" cy="2240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023360"/>
            <a:ext cx="32004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B8A6"/>
                </a:solidFill>
              </a:defRPr>
            </a:pPr>
            <a:r>
              <a:t>🌿 Virtual Arrival Eco-Steaming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Non-linear cubic speed optimization cutting bunker burn, demurrage, and upgrading IMO CII rating.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3886200"/>
            <a:ext cx="3474720" cy="2240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4023360"/>
            <a:ext cx="32004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🚨 Port Congestion &amp; Macro Radar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Live East Coast queue benchmarks with one-click geopolitical &amp; monsoon shock stress testing.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3886200"/>
            <a:ext cx="3474720" cy="2240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4023360"/>
            <a:ext cx="32004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855F7"/>
                </a:solidFill>
              </a:defRPr>
            </a:pPr>
            <a:r>
              <a:t>🧭 GIS Sea Routes &amp; Triangulation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Interactive maritime maps with backhaul pairing (e.g. Paradip to China) to eliminate deadheading.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</a:defRPr>
            </a:pPr>
            <a:r>
              <a:t>SMART INDIA HACKATHON 2026 | SMART LOGISTICS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Technical Architecture &amp; System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6060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2331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97316"/>
                </a:solidFill>
              </a:defRPr>
            </a:pPr>
            <a:r>
              <a:t>1. Data Ingestion Layer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• Historical Baltic Indices (BCI, BPI, BSI, BDI)</a:t>
            </a:r>
            <a:br/>
            <a:r>
              <a:t>• 18 Port Infrastructure Matrix (Draft, LOA, TPD)</a:t>
            </a:r>
            <a:br/>
            <a:r>
              <a:t>• Fleet Technical Database (Intake, Speed, Fuel)</a:t>
            </a:r>
            <a:br/>
            <a:r>
              <a:t>• AIS Queue &amp; Weather Congestion Feeds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463040"/>
            <a:ext cx="26060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645920"/>
            <a:ext cx="2331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2. ML &amp; Optimization Core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• SARIMAX Econometric Rate Predictor</a:t>
            </a:r>
            <a:br/>
            <a:r>
              <a:t>• Mixed-Integer Linear Programming (MILP)</a:t>
            </a:r>
            <a:br/>
            <a:r>
              <a:t>• Non-linear Cubic Hydrodynamic Physics</a:t>
            </a:r>
            <a:br/>
            <a:r>
              <a:t>• Monte Carlo 95% Confidence Interval 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63040"/>
            <a:ext cx="26060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645920"/>
            <a:ext cx="2331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3. Human-in-the-Loop Engine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• Chartering Risk-Tolerance Adjustment Slider</a:t>
            </a:r>
            <a:br/>
            <a:r>
              <a:t>• Macro Disruption &amp; Shock Stress Testing</a:t>
            </a:r>
            <a:br/>
            <a:r>
              <a:t>• Custom Laycan Window Generation</a:t>
            </a:r>
            <a:br/>
            <a:r>
              <a:t>• Dual Currency (USD $ &amp; INR ₹ Lakh/Cr)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463040"/>
            <a:ext cx="26060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645920"/>
            <a:ext cx="2331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855F7"/>
                </a:solidFill>
              </a:defRPr>
            </a:pPr>
            <a:r>
              <a:t>4. Interactive Enterprise UI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• Authentic Maritime Landing Homepage</a:t>
            </a:r>
            <a:br/>
            <a:r>
              <a:t>• Cross-Sectional Under-Keel Clearance Diagram</a:t>
            </a:r>
            <a:br/>
            <a:r>
              <a:t>• Landed Cost Scenario Waterfall ($/MT)</a:t>
            </a:r>
            <a:br/>
            <a:r>
              <a:t>• Printable BIMCO Executive Term Sheets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</a:defRPr>
            </a:pPr>
            <a:r>
              <a:t>SMART INDIA HACKATHON 2026 | SMART LOGISTICS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Mathematical Formulations &amp; Physics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1. Virtual Arrival Cubic Propeller Law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Fuel Burn (MT/day) = Design Sea Fuel × (V_opt / V_design)³</a:t>
            </a:r>
            <a:br/>
            <a:br/>
            <a:r>
              <a:t>Sea Time Delta (Days) = (Dist / (24 × V_opt)) - (Dist / (24 × V_orig))</a:t>
            </a:r>
            <a:br/>
            <a:r>
              <a:t>Remaining Queue = max(0, Known Delay - Sea Time Delta)</a:t>
            </a:r>
            <a:br/>
            <a:r>
              <a:t>Net Financial ROI = (Fuel Saved × VLSFO Price) + (Demurrage Avoided)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63040"/>
            <a:ext cx="347472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64592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2. MILP Portfolio Optimization Formulation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Minimize Total Landed Spend:</a:t>
            </a:r>
            <a:br/>
            <a:r>
              <a:t>min ∑ (Vol_i × Rate_i + PortDues + Lighterage_i + Demurrage_i)</a:t>
            </a:r>
            <a:br/>
            <a:br/>
            <a:r>
              <a:t>Subject to:</a:t>
            </a:r>
            <a:br/>
            <a:r>
              <a:t>• ∑ Vol_i = Total Annual Demand (e.g. 600k MT)</a:t>
            </a:r>
            <a:br/>
            <a:r>
              <a:t>• Draft_v ≤ Permissible Port Chart Datum (m)</a:t>
            </a:r>
            <a:br/>
            <a:r>
              <a:t>• Value-at-Risk VaR95 ≤ Target Volatility Cap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463040"/>
            <a:ext cx="347472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164592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97316"/>
                </a:solidFill>
              </a:defRPr>
            </a:pPr>
            <a:r>
              <a:t>3. Under-Keel Clearance &amp; Lightering Surcharge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Draft Margin = Port Max Permissible Draft - Vessel Loaded Draft</a:t>
            </a:r>
            <a:br/>
            <a:br/>
            <a:r>
              <a:t>If Riverine Draft Margin &lt; 0 (Haldia/Hooghly):</a:t>
            </a:r>
            <a:br/>
            <a:r>
              <a:t>• Lightering Volume = Cargo MT × min(0.65, Excess Draft / Draft)</a:t>
            </a:r>
            <a:br/>
            <a:r>
              <a:t>• Lighterage Tariff = Volume × $4.20/MT (at Sagar-Sandheads)</a:t>
            </a:r>
            <a:br/>
            <a:r>
              <a:t>• Under-Keel Clearance (UKC) Margin = max(0, Draft Margin)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</a:defRPr>
            </a:pPr>
            <a:r>
              <a:t>SMART INDIA HACKATHON 2026 | SMART LOGISTICS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India East Coast Strategic Ports &amp; Feasibility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5912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601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97316"/>
                </a:solidFill>
              </a:defRPr>
            </a:pPr>
            <a:r>
              <a:t>EAST COAST DISCHARGE PORTS MATRIX &amp; PHYSICAL CONSTRAINTS SOLVER: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Paradip Port (INPRT): 16.0m Draft | 260m LOA | 32k TPD | Direct intake for gearless Panamax/Kamsarmax without lighterage.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Vizag Port (INVTZ): 18.1m Outer Harbour Draft | 285m LOA | 35k TPD | Direct discharge for 200k DWT Capesize bulkers.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Gangavaram Port (INGGV): 18.5m Draft | 300m LOA | 38k TPD | Modern all-weather terminal with fastest turnaround in India.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Gopalpur Port (INGPL): 14.0m Draft | 225m LOA | 18k TPD | Grab discharge best suited for Geared Supramax / Ultramax.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Dhamra Port (INDHR): 18.0m Draft | 300m LOA | 42k TPD | Ultra-modern Capesize automated conveyor terminal.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Sagar - Sandheads (INSAG): 9.0m River Draft | 310m LOA | STS lightering zone for mother vessels bound for Haldia.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Haldia Dock Complex (INHAL): 8.5m Tidal Draft | 230m LOA | 15k TPD | Mandatory STS lighterage of ~84k MT at Sandheads ($4.20/MT).</a:t>
            </a:r>
          </a:p>
          <a:p>
            <a:br/>
            <a:pPr>
              <a:spcBef>
                <a:spcPts val="600"/>
              </a:spcBef>
              <a:defRPr sz="1100" b="1">
                <a:solidFill>
                  <a:srgbClr val="10B981"/>
                </a:solidFill>
              </a:defRPr>
            </a:pPr>
            <a:r>
              <a:t>✅ Automated 3-Tier Feasibility Status: PASSED (Direct Safe Berthing) | RESTRICTED (STS Lighterage Required) | REJECTED (Draft Deficit &gt; 2m)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</a:defRPr>
            </a:pPr>
            <a:r>
              <a:t>SMART INDIA HACKATHON 2026 | SMART LOGISTICS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Economic Viability, Procurement ROI &amp; Environmental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2240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920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💰 13.5% - 18.5% Freight Savings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Pure Spot Status Quo: $18.50 / MT</a:t>
            </a:r>
            <a:br/>
            <a:r>
              <a:t>• Recommended MILP Hybrid: $16.06 / MT</a:t>
            </a:r>
            <a:br/>
            <a:r>
              <a:t>• Net Dollar Savings: $1,464,186 (~₹12.67 Crore) per 600k MT annual procurement program.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63040"/>
            <a:ext cx="5257800" cy="2240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48920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🛡️ 67% Value-at-Risk (VaR95) Cut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Spot Tail-Risk Exposure: $2,886,000</a:t>
            </a:r>
            <a:br/>
            <a:r>
              <a:t>• MILP Hedged Exposure: $952,000</a:t>
            </a:r>
            <a:br/>
            <a:r>
              <a:t>• Drastically shields procurement budget from seasonal Q4 Baltic index spikes.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86200"/>
            <a:ext cx="5257800" cy="2240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48920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B8A6"/>
                </a:solidFill>
              </a:defRPr>
            </a:pPr>
            <a:r>
              <a:t>🌿 Virtual Arrival Eco-Steaming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Bunker Saved: 269.7 MT VLSFO ($166,675)</a:t>
            </a:r>
            <a:br/>
            <a:r>
              <a:t>• Demurrage Avoided: $112,000</a:t>
            </a:r>
            <a:br/>
            <a:r>
              <a:t>• Scope 1 CO2e Abatement: 839.9 MT per voyage</a:t>
            </a:r>
            <a:br/>
            <a:r>
              <a:t>• IMO CII Upgrade: Grade D ➔ Grade A (+38%)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886200"/>
            <a:ext cx="5257800" cy="2240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4023360"/>
            <a:ext cx="48920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97316"/>
                </a:solidFill>
              </a:defRPr>
            </a:pPr>
            <a:r>
              <a:t>🔄 Backhaul Triangulation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Paradip/Dhamra to Qingdao (Iron Ore): +$9.5d ballast cut</a:t>
            </a:r>
            <a:br/>
            <a:r>
              <a:t>• Vizag to Tuticorin (Coastal Coal): +$4.80/t revenue</a:t>
            </a:r>
            <a:br/>
            <a:r>
              <a:t>• Haldia to Singapore (Steel): Eliminates deadhead loss.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</a:defRPr>
            </a:pPr>
            <a:r>
              <a:t>SMART INDIA HACKATHON 2026 | SMART LOGISTICS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Technology Stack, Scalability &amp; Future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92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97316"/>
                </a:solidFill>
              </a:defRPr>
            </a:pPr>
            <a:r>
              <a:t>ROBUST TECHNOLOGY STACK: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Frontend: React 19, TypeScript, Tailwind CSS v4, Lucide Icons</a:t>
            </a:r>
            <a:br/>
            <a:r>
              <a:t>• Build System: Vite 6 (Sub-second HMR &amp; Production Bundler)</a:t>
            </a:r>
            <a:br/>
            <a:r>
              <a:t>• Mathematical Solvers: In-browser MILP &amp; Hydrodynamic Physics Engines</a:t>
            </a:r>
            <a:br/>
            <a:r>
              <a:t>• Currency Engine: Dynamic USD ($) &amp; INR (₹ Lakh/Cr) conversion</a:t>
            </a:r>
            <a:br/>
            <a:r>
              <a:t>• Verification: Automated Unit &amp; Physics Test Suite (src/test-suite.ts)</a:t>
            </a:r>
            <a:br/>
            <a:r>
              <a:t>• UI Design: Veson Nautical inspired high-contrast maritime design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63040"/>
            <a:ext cx="5285232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45920"/>
            <a:ext cx="491947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FUTURE SCALABILITY &amp; ROADMAP: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Real-Time Satellite AIS Integration: Live vessel GPS tracking and speed verification.</a:t>
            </a:r>
            <a:br/>
            <a:r>
              <a:t>• Automated Smart Contracts: Blockchain-enabled BIMCO digital term sheets with automated demurrage settlement.</a:t>
            </a:r>
            <a:br/>
            <a:r>
              <a:t>• West Coast Port Expansion: Expanding matrix to JNPT, Kandla, Mundra, and Cochin.</a:t>
            </a:r>
            <a:br/>
            <a:r>
              <a:t>• Weather Routing APIs: Dynamic cyclone avoidance and sea-swell ETA adjustment.</a:t>
            </a:r>
            <a:br/>
            <a:r>
              <a:t>• Enterprise ERP Connectors: SAP / Oracle SCM integration for automated chartering PO triggers.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